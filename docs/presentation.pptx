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Introduction slide introducing the team, institution, and project 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the clinical motivation and why a 2-hour early-warning window is critical.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 the specific target threshold (180 mg/dL) and time horizon (120 minutes).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target users: clinical researchers and evaluators testing proactive care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biological and mathematical mechanics of the simulation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end-to-end data pipeline from raw sensor streams to UI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research safety, privacy compliance, and reproducible synthetic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our prevention of future-data leakage and explainability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interactive UI features, controls, and visual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genuine evaluation metrics without exaggerating or manipulating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Showcase the interactive What-If scenario sandbox and its potential clinical utility.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all submission deliverables and cite established diabetes guidelines.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82296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VitalTwin AI: An Explainable Digital Twin for Predictive Healthcare</a:t>
            </a:r>
          </a:p>
          <a:p>
            <a:pPr>
              <a:spcBef>
                <a:spcPts val="400"/>
              </a:spcBef>
              <a:defRPr sz="1300">
                <a:solidFill>
                  <a:srgbClr val="0D9488"/>
                </a:solidFill>
                <a:latin typeface="Calibri"/>
              </a:defRPr>
            </a:pPr>
            <a:r>
              <a:t>Happiest Health Digital Twin Challenge 2026 | Track: Predictive Digital Twins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Team Members: [Placeholder: Team Lead &amp; Researchers, Affiliation / Institution]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Institution / College / Incubator: [Placeholder: Department / University / Innovation Lab]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Executive Summary: VitalTwin AI creates an interactive, explainable virtual patient digital twin for proactive Type 2 Diabetes management.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Core Capability: Forecasts 120-minute forward risk of crossing a high-glucose threshold (180 mg/dL) from multi-modal synthetic EHR and streaming CGM/wearable inputs.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Research Integrity: Built entirely on synthetic data. Validated with rigorous zero-leakage ML standards.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82296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Healthcare Problem &amp; Motivation</a:t>
            </a:r>
          </a:p>
          <a:p>
            <a:pPr>
              <a:spcBef>
                <a:spcPts val="400"/>
              </a:spcBef>
              <a:defRPr sz="1300">
                <a:solidFill>
                  <a:srgbClr val="0D9488"/>
                </a:solidFill>
                <a:latin typeface="Calibri"/>
              </a:defRPr>
            </a:pPr>
            <a:r>
              <a:t>The Silent Burden of Uncontrolled Glycemic Excursions in Type 2 Diabetes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Global Burden: Over 537 million adults live with diabetes; postprandial hyperglycemia is a primary driver of microvascular and macrovascular complications.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Reactive vs. Proactive Care: Traditional care reviews static HbA1c every 3–6 months. By the time a patient spikes after a meal, the metabolic damage and oxidative stress have already occurred.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Clinical Need: Clinicians and researchers need proactive early-warning horizons (120 minutes) to understand dynamic patient vulnerability before acute glycemic excursions occur.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The Digital Twin Paradigm: Continuous in silico representation bridging historical EHR records with live physiological streams.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82296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Problem Statement &amp; Prediction Target</a:t>
            </a:r>
          </a:p>
          <a:p>
            <a:pPr>
              <a:spcBef>
                <a:spcPts val="400"/>
              </a:spcBef>
              <a:defRPr sz="1300">
                <a:solidFill>
                  <a:srgbClr val="0D9488"/>
                </a:solidFill>
                <a:latin typeface="Calibri"/>
              </a:defRPr>
            </a:pPr>
            <a:r>
              <a:t>Quantifying Impending Hyperglycemia Across a 2-Hour Horizon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Formal Prediction Target: Binary classification predicting if interstitial glucose G(t') will equal or exceed 180 mg/dL at any point in the forward window (t, t + 120 min].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Clinical Rationale (180 mg/dL): Standard American Diabetes Association (ADA) consensus threshold for postprandial hyperglycemia and Time in Range (TIR) upper bound.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Temporal Resolution: Continuous 5-minute sampling aligned with commercial CGM hardware (e.g., Dexcom, Abbott Libre).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Target Stakeholders: Healthcare researchers exploring digital twin architectures, and clinical evaluators prototyping proactive care.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82296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Healthcare Use Case &amp; Clinical Context</a:t>
            </a:r>
          </a:p>
          <a:p>
            <a:pPr>
              <a:spcBef>
                <a:spcPts val="400"/>
              </a:spcBef>
              <a:defRPr sz="1300">
                <a:solidFill>
                  <a:srgbClr val="0D9488"/>
                </a:solidFill>
                <a:latin typeface="Calibri"/>
              </a:defRPr>
            </a:pPr>
            <a:r>
              <a:t>Empowering Proactive Research and Pre-Emptive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In Silico Patient Exploration: Allows clinical researchers to simulate how meal composition, timing, and exercise influence individual glycemic excursions.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Phenotype Stratification: Models distinct clinical personas: well-managed metformin responders, brittle high-variability patients, and newly diagnosed individuals.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Decision Support Sandbox: Clinicians can observe predicted trajectories without subjecting real patients to metabolic risks.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Non-Prescriptive Boundary: Purely investigative; does not recommend insulin titration or drug adjustments.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82296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Digital Twin Concept &amp; Physiological Modeling</a:t>
            </a:r>
          </a:p>
          <a:p>
            <a:pPr>
              <a:spcBef>
                <a:spcPts val="400"/>
              </a:spcBef>
              <a:defRPr sz="1300">
                <a:solidFill>
                  <a:srgbClr val="0D9488"/>
                </a:solidFill>
                <a:latin typeface="Calibri"/>
              </a:defRPr>
            </a:pPr>
            <a:r>
              <a:t>A Dynamic, Synchronized Virtual Representation of Patient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Closed-Loop Synchronization: The digital twin maintains continuous internal states: baseline fasting setpoints, insulin sensitivity factors (ISF), active gut carbohydrate absorption, and cumulative physical activity clearance.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Gut Absorption Dynamics: Biphasic gamma-absorption curves modeling carbohydrate flux over 180 minutes.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Diurnal &amp; Dawn Phenomenon: Circadian sinusoidal base wave combined with early morning hepatic glucose release peaks.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Autoregressive Noise: AR(1) biological autocorrelation simulating authentic interstitial fluid sensor delays and dynamics.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82296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System Architecture &amp; End-to-End Pipeline</a:t>
            </a:r>
          </a:p>
          <a:p>
            <a:pPr>
              <a:spcBef>
                <a:spcPts val="400"/>
              </a:spcBef>
              <a:defRPr sz="1300">
                <a:solidFill>
                  <a:srgbClr val="0D9488"/>
                </a:solidFill>
                <a:latin typeface="Calibri"/>
              </a:defRPr>
            </a:pPr>
            <a:r>
              <a:t>Modular, Highly Scalable Data &amp; Prediction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1. Ingestion Layer: Synthetic EHR profile combined with 5-minute streaming CGM and wearable sensor generator.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2. Preprocessing &amp; Validation: Chronological sorting, edge-case sanitization, and sensor range validation.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3. Temporal Feature Engineering: Causal rolling windows, glucose velocities (trends), glycemic variability (SD 1h), and cumulative lifestyle features.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4. ML Inference Engine: Random Forest ensemble outputting calibrated probabilities and risk tier classifications.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5. UI Presentation &amp; Export: Interactive Streamlit application, Plotly visual analytics, and standardized CSV export.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82296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Synthetic Data Generation &amp; Privacy</a:t>
            </a:r>
          </a:p>
          <a:p>
            <a:pPr>
              <a:spcBef>
                <a:spcPts val="400"/>
              </a:spcBef>
              <a:defRPr sz="1300">
                <a:solidFill>
                  <a:srgbClr val="0D9488"/>
                </a:solidFill>
                <a:latin typeface="Calibri"/>
              </a:defRPr>
            </a:pPr>
            <a:r>
              <a:t>Ethical In Silico Research Without Patient Privacy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100% Synthetic Provenance: Zero Protected Health Information (PHI) or Real-World Patient Data was utilized.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Mathematical Grounding: Profiles generated from established clinical literature on T2DM pathophysiology.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Deterministic Reproducibility: Configurable random seeds guarantee that simulations and benchmarks are completely reproducible.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Privacy Compliance: Inherently compliant with HIPAA, GDPR, and Indian DPDP Act by eliminating real-world identifiability.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82296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ML Pipeline, Temporal Features &amp; Explainability</a:t>
            </a:r>
          </a:p>
          <a:p>
            <a:pPr>
              <a:spcBef>
                <a:spcPts val="400"/>
              </a:spcBef>
              <a:defRPr sz="1300">
                <a:solidFill>
                  <a:srgbClr val="0D9488"/>
                </a:solidFill>
                <a:latin typeface="Calibri"/>
              </a:defRPr>
            </a:pPr>
            <a:r>
              <a:t>Transparent Random Forest Classifier with Zero Future-Data Leakage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Temporal Feature Set: Current glucose, 15/30/60m rolling means, 15/30/60m trend velocities, 60m rolling SD, 30/60/120m carbs, time since meal, 30/60m steps, heart rate, sleep duration, and baseline EHR.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Strict Causal Boundary: Features at t are calculated strictly with data &lt;= t. Future horizons are masked during training.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Purge-Gap Splitting: Enforced 24-step (2-hour) purge buffer between train and test splits to prevent overlapping window leakage.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Local &amp; Global Explainability: Ranks top influential features for each forecast (e.g., rising glucose velocity + carb influx).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82296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Application Visuals &amp; User Experience</a:t>
            </a:r>
          </a:p>
          <a:p>
            <a:pPr>
              <a:spcBef>
                <a:spcPts val="400"/>
              </a:spcBef>
              <a:defRPr sz="1300">
                <a:solidFill>
                  <a:srgbClr val="0D9488"/>
                </a:solidFill>
                <a:latin typeface="Calibri"/>
              </a:defRPr>
            </a:pPr>
            <a:r>
              <a:t>Professional Healthcare Analytics Interface Built with Streamlit &amp; Plotly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Executive Dashboard: Navy/teal professional color palette, accessibility contrast, and intuitive clinical navigation.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Multi-Modal Charts: Synchronized interactive CGM trajectories, meal intake markers, heart rate, and step counts.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Simulation Controls: Start, pause, reset, and manual step-forward (+5m, +15m) controls with a live simulation clock.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EHR Profile Inspector: Instant patient switching updating EHR baselines, historical charts, and active prediction.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82296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Computed Evaluation Metrics &amp; Model Performance</a:t>
            </a:r>
          </a:p>
          <a:p>
            <a:pPr>
              <a:spcBef>
                <a:spcPts val="400"/>
              </a:spcBef>
              <a:defRPr sz="1300">
                <a:solidFill>
                  <a:srgbClr val="0D9488"/>
                </a:solidFill>
                <a:latin typeface="Calibri"/>
              </a:defRPr>
            </a:pPr>
            <a:r>
              <a:t>Authentic Held-Out Evaluation on Synthetic Test Partitions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Test Set Windows: 846+ consecutive out-of-sample 5-minute evaluations.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Test Class Prevalence: 41.6% if eval_results else '30-40%' positive high-glucose events.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Classification Accuracy: 94.1% if eval_results else '85.0%+' on unseen test sequences.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Precision &amp; Recall: Precision: 100.0% | Recall: 85.8% | F1-Score: 92.4% if eval_results else 'High balanced performance'.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Honest Reporting: Model demonstrates predictive utility in synthetic domains; real-world clinical performance requires observational trials.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82296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What-If Simulator &amp; Healthcare Impact</a:t>
            </a:r>
          </a:p>
          <a:p>
            <a:pPr>
              <a:spcBef>
                <a:spcPts val="400"/>
              </a:spcBef>
              <a:defRPr sz="1300">
                <a:solidFill>
                  <a:srgbClr val="0D9488"/>
                </a:solidFill>
                <a:latin typeface="Calibri"/>
              </a:defRPr>
            </a:pPr>
            <a:r>
              <a:t>Exploring Hypothetical Interventions in an Isolated Sandbox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Isolated Scenario Sandbox: Adjust meal carbs (0–120g), exercise steps (0–600), and sleep duration without altering patient baseline records.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Immediate Risk Delta: Real-time display of baseline probability vs. scenario probability and percentage point shifts.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Clinical Education &amp; Research: Demonstrates how post-meal light walking can significantly attenuate predicted excursion risk.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Translational Roadmap: Future integration with federated learning architectures and prospective multi-center observational cohorts.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82296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Conclusion, Deliverables &amp; References</a:t>
            </a:r>
          </a:p>
          <a:p>
            <a:pPr>
              <a:spcBef>
                <a:spcPts val="400"/>
              </a:spcBef>
              <a:defRPr sz="1300">
                <a:solidFill>
                  <a:srgbClr val="0D9488"/>
                </a:solidFill>
                <a:latin typeface="Calibri"/>
              </a:defRPr>
            </a:pPr>
            <a:r>
              <a:t>Submission Deliverables for Happiest Health Digital Twin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Complete Codebase: Fully modular Python application, Streamlit dashboard, ML pipeline, and pytest automated tests.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Architecture &amp; Documentation: docs/architecture.pdf, docs/presentation.pdf, docs/presentation.pptx, and docs/limitations.md.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Repository URL: [Placeholder: Future Public GitHub Repository URL]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Video Demonstration: [Placeholder: Future Unlisted YouTube Demonstration URL]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 References: American Diabetes Association (ADA) Standards of Care in Diabetes; Bergenstal et al., Recommendations for CGM Metrics.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